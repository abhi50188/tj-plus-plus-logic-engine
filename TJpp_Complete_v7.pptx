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65" r:id="rId15"/>
    <p:sldId id="266" r:id="rId16"/>
    <p:sldId id="267" r:id="rId17"/>
    <p:sldId id="268" r:id="rId18"/>
    <p:sldId id="269" r:id="rId19"/>
    <p:sldId id="270" r:id="rId20"/>
    <p:sldId id="286" r:id="rId36"/>
    <p:sldId id="285" r:id="rId3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  
  <Relationship Id="rId22" Type="http://schemas.openxmlformats.org/officeDocument/2006/relationships/slide" Target="slides/slide17.xml"/>
  <Relationship Id="rId23" Type="http://schemas.openxmlformats.org/officeDocument/2006/relationships/slide" Target="slides/slide18.xml"/>
  <Relationship Id="rId24" Type="http://schemas.openxmlformats.org/officeDocument/2006/relationships/slide" Target="slides/slide19.xml"/>
  <Relationship Id="rId25" Type="http://schemas.openxmlformats.org/officeDocument/2006/relationships/slide" Target="slides/slide20.xml"/>
  <Relationship Id="rId26" Type="http://schemas.openxmlformats.org/officeDocument/2006/relationships/slide" Target="slides/slide21.xml"/>
  <Relationship Id="rId27" Type="http://schemas.openxmlformats.org/officeDocument/2006/relationships/slide" Target="slides/slide22.xml"/>
  <Relationship Id="rId28" Type="http://schemas.openxmlformats.org/officeDocument/2006/relationships/slide" Target="slides/slide23.xml"/>
  <Relationship Id="rId29" Type="http://schemas.openxmlformats.org/officeDocument/2006/relationships/slide" Target="slides/slide24.xml"/>
  <Relationship Id="rId30" Type="http://schemas.openxmlformats.org/officeDocument/2006/relationships/slide" Target="slides/slide25.xml"/>
  <Relationship Id="rId31" Type="http://schemas.openxmlformats.org/officeDocument/2006/relationships/slide" Target="slides/slide26.xml"/>
  <Relationship Id="rId32" Type="http://schemas.openxmlformats.org/officeDocument/2006/relationships/slide" Target="slides/slide27.xml"/>
  <Relationship Id="rId33" Type="http://schemas.openxmlformats.org/officeDocument/2006/relationships/slide" Target="slides/slide28.xml"/>
  <Relationship Id="rId34" Type="http://schemas.openxmlformats.org/officeDocument/2006/relationships/slide" Target="slides/slide29.xml"/>
  <Relationship Id="rId35" Type="http://schemas.openxmlformats.org/officeDocument/2006/relationships/slide" Target="slides/slide30.xml"/>
  <Relationship Id="rId36" Type="http://schemas.openxmlformats.org/officeDocument/2006/relationships/slide" Target="slides/slide31.xml"/>
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_import_cohort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_import_table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cle1_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cle2_image2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cle3_image3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cle4_image4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cle5_image5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cle6_image6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cle7_image7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cle8_image8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cle9_image9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cle10_image10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cle11_image11.jpeg" Type="http://schemas.openxmlformats.org/officeDocument/2006/relationships/image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5" name="PatchTopCoverRect"/>
          <p:cNvSpPr/>
          <p:nvPr/>
        </p:nvSpPr>
        <p:spPr>
          <a:xfrm>
            <a:off x="0" y="2250000"/>
            <a:ext cx="16256000" cy="1900000"/>
          </a:xfrm>
          <a:prstGeom prst="rect">
            <a:avLst/>
          </a:prstGeom>
          <a:solidFill>
            <a:srgbClr val="11151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PatchTitleRect"/>
          <p:cNvSpPr/>
          <p:nvPr/>
        </p:nvSpPr>
        <p:spPr>
          <a:xfrm>
            <a:off x="2244651" y="3532981"/>
            <a:ext cx="11766698" cy="2219722"/>
          </a:xfrm>
          <a:prstGeom prst="rect">
            <a:avLst/>
          </a:prstGeom>
          <a:solidFill>
            <a:srgbClr val="11151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PatchTitleText"/>
          <p:cNvSpPr txBox="1"/>
          <p:nvPr/>
        </p:nvSpPr>
        <p:spPr>
          <a:xfrm>
            <a:off x="2244651" y="3532981"/>
            <a:ext cx="11766698" cy="2219722"/>
          </a:xfrm>
          <a:prstGeom prst="rect">
            <a:avLst/>
          </a:prstGeom>
          <a:noFill/>
          <a:ln>
            <a:noFill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4400" b="1">
                <a:solidFill>
                  <a:srgbClr val="FFFFFF"/>
                </a:solidFill>
                <a:latin typeface="Calibri"/>
              </a:rPr>
              <a:t>Mathematical Proof</a:t>
            </a:r>
          </a:p>
        </p:txBody>
      </p:sp>
      <p:sp>
        <p:nvSpPr>
          <p:cNvPr id="103" name="PatchSubRect"/>
          <p:cNvSpPr/>
          <p:nvPr/>
        </p:nvSpPr>
        <p:spPr>
          <a:xfrm>
            <a:off x="2835349" y="5965230"/>
            <a:ext cx="10573488" cy="1357809"/>
          </a:xfrm>
          <a:prstGeom prst="rect">
            <a:avLst/>
          </a:prstGeom>
          <a:solidFill>
            <a:srgbClr val="11151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PatchSubText"/>
          <p:cNvSpPr txBox="1"/>
          <p:nvPr/>
        </p:nvSpPr>
        <p:spPr>
          <a:xfrm>
            <a:off x="2835349" y="5965230"/>
            <a:ext cx="10573488" cy="1357809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lang="en-US" sz="1700" i="1">
                <a:solidFill>
                  <a:srgbClr val="FFFFFF"/>
                </a:solidFill>
                <a:latin typeface="Calibri"/>
              </a:rPr>
              <a:t>Grounded in Tarjan-style cycle detection on directed graphs, formalized as </a:t>
            </a:r>
            <a:r>
              <a:rPr lang="en-US" sz="1700" i="1" b="1">
                <a:solidFill>
                  <a:srgbClr val="D9B88A"/>
                </a:solidFill>
                <a:latin typeface="Calibri"/>
              </a:rPr>
              <a:t>intuitive matrix algebra</a:t>
            </a:r>
            <a:r>
              <a:rPr lang="en-US" sz="1700" i="1">
                <a:solidFill>
                  <a:srgbClr val="FFFFFF"/>
                </a:solidFill>
                <a:latin typeface="Calibri"/>
              </a:rPr>
              <a:t> for the mathematically inclined.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PatchRectLeft"/>
          <p:cNvSpPr/>
          <p:nvPr/>
        </p:nvSpPr>
        <p:spPr>
          <a:xfrm>
            <a:off x="5552558" y="1655663"/>
            <a:ext cx="2020186" cy="495895"/>
          </a:xfrm>
          <a:prstGeom prst="rect">
            <a:avLst/>
          </a:prstGeom>
          <a:solidFill>
            <a:srgbClr val="1216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PatchTextLeft"/>
          <p:cNvSpPr txBox="1"/>
          <p:nvPr/>
        </p:nvSpPr>
        <p:spPr>
          <a:xfrm>
            <a:off x="5552558" y="1655663"/>
            <a:ext cx="2020186" cy="4958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800" b="1">
                <a:solidFill>
                  <a:srgbClr val="C6B29B"/>
                </a:solidFill>
                <a:latin typeface="Calibri"/>
              </a:rPr>
              <a:t>(Det = −1)</a:t>
            </a:r>
          </a:p>
        </p:txBody>
      </p:sp>
      <p:sp>
        <p:nvSpPr>
          <p:cNvPr id="103" name="PatchRectRight"/>
          <p:cNvSpPr/>
          <p:nvPr/>
        </p:nvSpPr>
        <p:spPr>
          <a:xfrm>
            <a:off x="13030791" y="1655663"/>
            <a:ext cx="2055628" cy="507702"/>
          </a:xfrm>
          <a:prstGeom prst="rect">
            <a:avLst/>
          </a:prstGeom>
          <a:solidFill>
            <a:srgbClr val="1216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PatchTextRight"/>
          <p:cNvSpPr txBox="1"/>
          <p:nvPr/>
        </p:nvSpPr>
        <p:spPr>
          <a:xfrm>
            <a:off x="13030791" y="1655663"/>
            <a:ext cx="2055628" cy="507702"/>
          </a:xfrm>
          <a:prstGeom prst="rect">
            <a:avLst/>
          </a:prstGeom>
          <a:noFill/>
          <a:ln>
            <a:noFill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800" b="1">
                <a:solidFill>
                  <a:srgbClr val="C6B29B"/>
                </a:solidFill>
                <a:latin typeface="Calibri"/>
              </a:rPr>
              <a:t>(λ ≠ 0)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PatchTitleRect"/>
          <p:cNvSpPr/>
          <p:nvPr/>
        </p:nvSpPr>
        <p:spPr>
          <a:xfrm>
            <a:off x="1122326" y="628452"/>
            <a:ext cx="10514419" cy="909141"/>
          </a:xfrm>
          <a:prstGeom prst="rect">
            <a:avLst/>
          </a:prstGeom>
          <a:solidFill>
            <a:srgbClr val="1418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PatchTitleText"/>
          <p:cNvSpPr txBox="1"/>
          <p:nvPr/>
        </p:nvSpPr>
        <p:spPr>
          <a:xfrm>
            <a:off x="1122326" y="628452"/>
            <a:ext cx="10514419" cy="9091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rIns="0" tIns="0" bIns="0">
            <a:noAutofit/>
          </a:bodyPr>
          <a:lstStyle/>
          <a:p>
            <a:pPr algn="l"/>
            <a:r>
              <a:rPr lang="en-US" sz="2800" b="1">
                <a:solidFill>
                  <a:srgbClr val="F5F1EC"/>
                </a:solidFill>
                <a:latin typeface="Calibri"/>
              </a:rPr>
              <a:t>Splay Trees &amp; </a:t>
            </a:r>
            <a:r>
              <a:rPr lang="en-US" sz="2800" b="1">
                <a:solidFill>
                  <a:srgbClr val="C6B29B"/>
                </a:solidFill>
                <a:latin typeface="Calibri"/>
              </a:rPr>
              <a:t>The Oracle Shift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453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14612112" cy="0"/>
          </a:xfrm>
          <a:prstGeom prst="line">
            <a:avLst/>
          </a:prstGeom>
          <a:noFill/>
          <a:ln w="12700">
            <a:solidFill>
              <a:srgbClr val="2A2E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103120"/>
            <a:ext cx="14612112" cy="1828800"/>
          </a:xfrm>
          <a:prstGeom prst="roundRect">
            <a:avLst>
              <a:gd name="adj" fmla="val 4000"/>
            </a:avLst>
          </a:prstGeom>
          <a:solidFill>
            <a:srgbClr val="171B19"/>
          </a:solidFill>
          <a:ln w="15875">
            <a:solidFill>
              <a:srgbClr val="D9B8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331720"/>
            <a:ext cx="1389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Tarjan, R. E. (1972). </a:t>
            </a:r>
            <a:pPr indent="0" marL="0">
              <a:buNone/>
            </a:pPr>
            <a:r>
              <a:rPr lang="en-US" sz="1800" b="1" i="1" dirty="0">
                <a:solidFill>
                  <a:srgbClr val="D9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Depth-first search and linear graph algorithms.</a:t>
            </a:r>
            <a:pPr indent="0" marL="0">
              <a:buNone/>
            </a:pPr>
            <a:r>
              <a:rPr lang="en-US" sz="1800" dirty="0">
                <a:solidFill>
                  <a:srgbClr val="F2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SIAM Journal on Computing, 1(2), 146–160.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3063240"/>
            <a:ext cx="1389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https://doi.org/10.1137/0201010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453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Jacobian loop check sits relative to this work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846320"/>
            <a:ext cx="1453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Tarjan (1972) established the canonical method for finding strongly connected components in a directed graph — in plain terms, detecting whether a set of nodes forms a cycle — using a single depth-first search pass. That is the same underlying question the Jacobian loop check asks of a TJ++ dependency graph: does this set of claims loop back on itself with nothing external grounding it.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309360"/>
            <a:ext cx="1453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here is different, not a direct extension of Tarjan's algorithm: instead of a DFS traversal, TJ++ builds the dependency matrix and reads it for a nonzero eigenvalue, or for the quicker negative-determinant tell on a two-node mirrored pair. Same class of question — cycle detection on a directed graph — answered with linear-algebra machinery instead of graph traversal.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453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Argument-as-Graph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2011680"/>
            <a:ext cx="14612112" cy="0"/>
          </a:xfrm>
          <a:prstGeom prst="line">
            <a:avLst/>
          </a:prstGeom>
          <a:noFill/>
          <a:ln w="12700">
            <a:solidFill>
              <a:srgbClr val="2A2E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560320"/>
            <a:ext cx="1453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2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in this document treats a node as an opaque unit and a dependency as an opaque relationship. Nothing about loop detection, connectivity, redundancy, or drift requires the node to be a claim in an essay.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14538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2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the criteria of a business decision, the steps of an operating procedure, the requirements of a compliance checklist, or the tasks in a project plan, and the same six checks apply unchanged: does it loop, is anything disconnected, is anything redundant, does it match its basis, and is it structurally sound.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5943600"/>
            <a:ext cx="4114800" cy="0"/>
          </a:xfrm>
          <a:prstGeom prst="line">
            <a:avLst/>
          </a:prstGeom>
          <a:noFill/>
          <a:ln w="19050">
            <a:solidFill>
              <a:srgbClr val="D9B8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217920"/>
            <a:ext cx="1453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D9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 changes. The engine doesn't.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Abhi Sharma</dc:creator>
  <cp:lastModifiedBy>Abhi Sharma</cp:lastModifiedBy>
  <dcterms:created xsi:type="dcterms:W3CDTF">2006-08-16T00:00:00Z</dcterms:created>
  <dcterms:modified xsi:type="dcterms:W3CDTF">2011-08-01T06:04:30Z</dcterms:modified>
  <cp:revision>1</cp:revision>
</cp:coreProperties>
</file>